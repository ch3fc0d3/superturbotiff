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</p:sldIdLst>
  <p:sldSz cx="10058400" cy="777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1200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272011"/>
            <a:ext cx="8549640" cy="2705947"/>
          </a:xfrm>
        </p:spPr>
        <p:txBody>
          <a:bodyPr anchor="b"/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920" indent="0" algn="ctr">
              <a:buNone/>
              <a:defRPr sz="2200"/>
            </a:lvl2pPr>
            <a:lvl3pPr marL="1005840" indent="0" algn="ctr">
              <a:buNone/>
              <a:defRPr sz="1980"/>
            </a:lvl3pPr>
            <a:lvl4pPr marL="1508760" indent="0" algn="ctr">
              <a:buNone/>
              <a:defRPr sz="1760"/>
            </a:lvl4pPr>
            <a:lvl5pPr marL="2011680" indent="0" algn="ctr">
              <a:buNone/>
              <a:defRPr sz="1760"/>
            </a:lvl5pPr>
            <a:lvl6pPr marL="2514600" indent="0" algn="ctr">
              <a:buNone/>
              <a:defRPr sz="1760"/>
            </a:lvl6pPr>
            <a:lvl7pPr marL="3017520" indent="0" algn="ctr">
              <a:buNone/>
              <a:defRPr sz="1760"/>
            </a:lvl7pPr>
            <a:lvl8pPr marL="3520440" indent="0" algn="ctr">
              <a:buNone/>
              <a:defRPr sz="1760"/>
            </a:lvl8pPr>
            <a:lvl9pPr marL="4023360" indent="0" algn="ctr">
              <a:buNone/>
              <a:defRPr sz="17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30071-4344-4136-B2C4-DAC255E1D821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39ADB-A748-4859-9E21-F424247A24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3207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30071-4344-4136-B2C4-DAC255E1D821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39ADB-A748-4859-9E21-F424247A24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666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1937705"/>
            <a:ext cx="8675370" cy="3233102"/>
          </a:xfrm>
        </p:spPr>
        <p:txBody>
          <a:bodyPr anchor="b"/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5201393"/>
            <a:ext cx="8675370" cy="1700212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/>
                </a:solidFill>
              </a:defRPr>
            </a:lvl1pPr>
            <a:lvl2pPr marL="50292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005840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3pPr>
            <a:lvl4pPr marL="150876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4pPr>
            <a:lvl5pPr marL="201168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5pPr>
            <a:lvl6pPr marL="251460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6pPr>
            <a:lvl7pPr marL="301752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7pPr>
            <a:lvl8pPr marL="352044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8pPr>
            <a:lvl9pPr marL="402336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30071-4344-4136-B2C4-DAC255E1D821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39ADB-A748-4859-9E21-F424247A24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5373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30071-4344-4136-B2C4-DAC255E1D821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39ADB-A748-4859-9E21-F424247A24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0806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13810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905318"/>
            <a:ext cx="4255174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1905318"/>
            <a:ext cx="4276130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30071-4344-4136-B2C4-DAC255E1D821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39ADB-A748-4859-9E21-F424247A24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5212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30071-4344-4136-B2C4-DAC255E1D821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39ADB-A748-4859-9E21-F424247A24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1566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30071-4344-4136-B2C4-DAC255E1D821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39ADB-A748-4859-9E21-F424247A24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84586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119083"/>
            <a:ext cx="5092065" cy="5523442"/>
          </a:xfrm>
        </p:spPr>
        <p:txBody>
          <a:bodyPr/>
          <a:lstStyle>
            <a:lvl1pPr>
              <a:defRPr sz="3520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30071-4344-4136-B2C4-DAC255E1D821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39ADB-A748-4859-9E21-F424247A24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5692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1119083"/>
            <a:ext cx="5092065" cy="5523442"/>
          </a:xfrm>
        </p:spPr>
        <p:txBody>
          <a:bodyPr anchor="t"/>
          <a:lstStyle>
            <a:lvl1pPr marL="0" indent="0">
              <a:buNone/>
              <a:defRPr sz="3520"/>
            </a:lvl1pPr>
            <a:lvl2pPr marL="502920" indent="0">
              <a:buNone/>
              <a:defRPr sz="3080"/>
            </a:lvl2pPr>
            <a:lvl3pPr marL="1005840" indent="0">
              <a:buNone/>
              <a:defRPr sz="2640"/>
            </a:lvl3pPr>
            <a:lvl4pPr marL="1508760" indent="0">
              <a:buNone/>
              <a:defRPr sz="2200"/>
            </a:lvl4pPr>
            <a:lvl5pPr marL="2011680" indent="0">
              <a:buNone/>
              <a:defRPr sz="2200"/>
            </a:lvl5pPr>
            <a:lvl6pPr marL="2514600" indent="0">
              <a:buNone/>
              <a:defRPr sz="2200"/>
            </a:lvl6pPr>
            <a:lvl7pPr marL="3017520" indent="0">
              <a:buNone/>
              <a:defRPr sz="2200"/>
            </a:lvl7pPr>
            <a:lvl8pPr marL="3520440" indent="0">
              <a:buNone/>
              <a:defRPr sz="2200"/>
            </a:lvl8pPr>
            <a:lvl9pPr marL="4023360" indent="0">
              <a:buNone/>
              <a:defRPr sz="22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30071-4344-4136-B2C4-DAC255E1D821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39ADB-A748-4859-9E21-F424247A24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9899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30071-4344-4136-B2C4-DAC255E1D821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39ADB-A748-4859-9E21-F424247A24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1945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3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30071-4344-4136-B2C4-DAC255E1D821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39ADB-A748-4859-9E21-F424247A24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053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413810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530071-4344-4136-B2C4-DAC255E1D821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339ADB-A748-4859-9E21-F424247A24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650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05840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60" indent="-251460" algn="l" defTabSz="100584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2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314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606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9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9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8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68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5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4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3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151416E-6707-5D26-D35F-9DFBCED2BC8A}"/>
              </a:ext>
            </a:extLst>
          </p:cNvPr>
          <p:cNvSpPr txBox="1"/>
          <p:nvPr/>
        </p:nvSpPr>
        <p:spPr>
          <a:xfrm>
            <a:off x="450009" y="2356839"/>
            <a:ext cx="3172137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u="sng" dirty="0"/>
              <a:t>SWEETWATER’S RESPONSIBILTY</a:t>
            </a:r>
          </a:p>
          <a:p>
            <a:r>
              <a:rPr lang="en-US" dirty="0"/>
              <a:t>Environmental assessment</a:t>
            </a:r>
          </a:p>
          <a:p>
            <a:r>
              <a:rPr lang="en-US" dirty="0"/>
              <a:t>Cultural assessment</a:t>
            </a:r>
          </a:p>
          <a:p>
            <a:r>
              <a:rPr lang="en-US" dirty="0"/>
              <a:t>Grazing Permits Consents</a:t>
            </a:r>
          </a:p>
          <a:p>
            <a:r>
              <a:rPr lang="en-US" dirty="0"/>
              <a:t>Chapter Consents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592084-CBD2-5D9A-F6AB-560A415B2B96}"/>
              </a:ext>
            </a:extLst>
          </p:cNvPr>
          <p:cNvSpPr txBox="1"/>
          <p:nvPr/>
        </p:nvSpPr>
        <p:spPr>
          <a:xfrm>
            <a:off x="3704050" y="3030378"/>
            <a:ext cx="1550019" cy="369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APPLICATION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6835CE-D129-B4EA-C6FC-384FF9F69084}"/>
              </a:ext>
            </a:extLst>
          </p:cNvPr>
          <p:cNvSpPr txBox="1"/>
          <p:nvPr/>
        </p:nvSpPr>
        <p:spPr>
          <a:xfrm>
            <a:off x="3510364" y="1153756"/>
            <a:ext cx="1940313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u="sng" dirty="0"/>
              <a:t>MINERALS  DEPT</a:t>
            </a:r>
          </a:p>
          <a:p>
            <a:pPr algn="ctr"/>
            <a:r>
              <a:rPr lang="en-US" dirty="0"/>
              <a:t>OA negotiation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9006C5-1AED-4188-9E78-24254F7AE1C0}"/>
              </a:ext>
            </a:extLst>
          </p:cNvPr>
          <p:cNvSpPr txBox="1"/>
          <p:nvPr/>
        </p:nvSpPr>
        <p:spPr>
          <a:xfrm>
            <a:off x="5421790" y="1951398"/>
            <a:ext cx="4636610" cy="2585323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u="sng" dirty="0"/>
              <a:t>164 REVIEW PROCESS</a:t>
            </a:r>
          </a:p>
          <a:p>
            <a:r>
              <a:rPr lang="en-US" dirty="0"/>
              <a:t>General Land &amp; Development Dept (GLDD)</a:t>
            </a:r>
          </a:p>
          <a:p>
            <a:r>
              <a:rPr lang="en-US" dirty="0"/>
              <a:t>Land Dept</a:t>
            </a:r>
          </a:p>
          <a:p>
            <a:r>
              <a:rPr lang="en-US" dirty="0"/>
              <a:t>Fish &amp; Wildlife Dept</a:t>
            </a:r>
          </a:p>
          <a:p>
            <a:r>
              <a:rPr lang="en-US" dirty="0"/>
              <a:t>Heritage &amp; Historic Preservation Dept (HHPD)</a:t>
            </a:r>
          </a:p>
          <a:p>
            <a:r>
              <a:rPr lang="en-US" dirty="0"/>
              <a:t>Minerals Dept</a:t>
            </a:r>
          </a:p>
          <a:p>
            <a:r>
              <a:rPr lang="en-US" dirty="0"/>
              <a:t>Dept of Justice</a:t>
            </a:r>
          </a:p>
          <a:p>
            <a:r>
              <a:rPr lang="en-US" dirty="0"/>
              <a:t>NN Environmental Protection Agency (NNEPA) </a:t>
            </a:r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79DF5D-4FF8-1301-7F1C-8E0B83ECC239}"/>
              </a:ext>
            </a:extLst>
          </p:cNvPr>
          <p:cNvSpPr txBox="1"/>
          <p:nvPr/>
        </p:nvSpPr>
        <p:spPr>
          <a:xfrm>
            <a:off x="4151319" y="5430451"/>
            <a:ext cx="5475785" cy="203132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u="sng" dirty="0"/>
              <a:t>DRAFT LEGISLATION</a:t>
            </a:r>
          </a:p>
          <a:p>
            <a:r>
              <a:rPr lang="en-US" dirty="0"/>
              <a:t>Resources &amp; Development Committee RDC</a:t>
            </a:r>
          </a:p>
          <a:p>
            <a:r>
              <a:rPr lang="en-US" dirty="0"/>
              <a:t>Naabik’íyáti’ Committee– “Naabi” (Legislative Services)</a:t>
            </a:r>
          </a:p>
          <a:p>
            <a:r>
              <a:rPr lang="en-US" dirty="0"/>
              <a:t>NN Council</a:t>
            </a:r>
          </a:p>
          <a:p>
            <a:r>
              <a:rPr lang="en-US" dirty="0"/>
              <a:t>NN President</a:t>
            </a:r>
          </a:p>
          <a:p>
            <a:r>
              <a:rPr lang="en-US" dirty="0"/>
              <a:t>BIA</a:t>
            </a:r>
          </a:p>
          <a:p>
            <a:endParaRPr lang="en-US" dirty="0"/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8A140255-5A86-4979-E789-5466ACD41D99}"/>
              </a:ext>
            </a:extLst>
          </p:cNvPr>
          <p:cNvSpPr/>
          <p:nvPr/>
        </p:nvSpPr>
        <p:spPr>
          <a:xfrm>
            <a:off x="3471604" y="3138122"/>
            <a:ext cx="301083" cy="211874"/>
          </a:xfrm>
          <a:prstGeom prst="rightArrow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DA66E376-DDB4-DA18-F35D-D11FF8039995}"/>
              </a:ext>
            </a:extLst>
          </p:cNvPr>
          <p:cNvSpPr/>
          <p:nvPr/>
        </p:nvSpPr>
        <p:spPr>
          <a:xfrm rot="5400000">
            <a:off x="3899760" y="2284834"/>
            <a:ext cx="1014499" cy="281374"/>
          </a:xfrm>
          <a:prstGeom prst="rightArrow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8545FEDD-F2C9-B15D-4CE3-85342BBB74A1}"/>
              </a:ext>
            </a:extLst>
          </p:cNvPr>
          <p:cNvSpPr/>
          <p:nvPr/>
        </p:nvSpPr>
        <p:spPr>
          <a:xfrm>
            <a:off x="5127831" y="3109107"/>
            <a:ext cx="301083" cy="211874"/>
          </a:xfrm>
          <a:prstGeom prst="rightArrow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71B2C423-5D1B-7649-B862-3A645B88A710}"/>
              </a:ext>
            </a:extLst>
          </p:cNvPr>
          <p:cNvSpPr/>
          <p:nvPr/>
        </p:nvSpPr>
        <p:spPr>
          <a:xfrm rot="5400000">
            <a:off x="6639067" y="4945892"/>
            <a:ext cx="784887" cy="184236"/>
          </a:xfrm>
          <a:prstGeom prst="rightArrow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6A31C4-8F72-113E-B7E6-AFD7F75A8740}"/>
              </a:ext>
            </a:extLst>
          </p:cNvPr>
          <p:cNvSpPr txBox="1"/>
          <p:nvPr/>
        </p:nvSpPr>
        <p:spPr>
          <a:xfrm>
            <a:off x="3176494" y="273993"/>
            <a:ext cx="53394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OA APPROVAL PROCESS</a:t>
            </a:r>
          </a:p>
        </p:txBody>
      </p:sp>
    </p:spTree>
    <p:extLst>
      <p:ext uri="{BB962C8B-B14F-4D97-AF65-F5344CB8AC3E}">
        <p14:creationId xmlns:p14="http://schemas.microsoft.com/office/powerpoint/2010/main" val="4198845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text, indoor, person, cluttered&#10;&#10;Description automatically generated">
            <a:extLst>
              <a:ext uri="{FF2B5EF4-FFF2-40B4-BE49-F238E27FC236}">
                <a16:creationId xmlns:a16="http://schemas.microsoft.com/office/drawing/2014/main" id="{F15E65B8-BF65-6FC1-A27F-6F7AB72D455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34" t="35588" r="32927" b="29231"/>
          <a:stretch/>
        </p:blipFill>
        <p:spPr>
          <a:xfrm>
            <a:off x="156116" y="194474"/>
            <a:ext cx="9009532" cy="6400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2207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45</TotalTime>
  <Words>79</Words>
  <Application>Microsoft Office PowerPoint</Application>
  <PresentationFormat>Custom</PresentationFormat>
  <Paragraphs>23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Thomas Pellegrini</dc:creator>
  <cp:lastModifiedBy>Tom Pellegrini</cp:lastModifiedBy>
  <cp:revision>2</cp:revision>
  <dcterms:created xsi:type="dcterms:W3CDTF">2022-05-05T14:27:04Z</dcterms:created>
  <dcterms:modified xsi:type="dcterms:W3CDTF">2025-11-07T19:31:44Z</dcterms:modified>
</cp:coreProperties>
</file>